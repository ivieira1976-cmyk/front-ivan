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414" r:id="rId3"/>
    <p:sldId id="438" r:id="rId4"/>
    <p:sldId id="437" r:id="rId5"/>
    <p:sldId id="434" r:id="rId6"/>
    <p:sldId id="435" r:id="rId7"/>
    <p:sldId id="436" r:id="rId8"/>
    <p:sldId id="433" r:id="rId9"/>
    <p:sldId id="413" r:id="rId10"/>
    <p:sldId id="431" r:id="rId11"/>
    <p:sldId id="419" r:id="rId12"/>
    <p:sldId id="432" r:id="rId13"/>
    <p:sldId id="439" r:id="rId14"/>
    <p:sldId id="440" r:id="rId15"/>
    <p:sldId id="441" r:id="rId16"/>
    <p:sldId id="443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0000"/>
    <a:srgbClr val="F4F9F1"/>
    <a:srgbClr val="EAF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40" d="100"/>
          <a:sy n="40" d="100"/>
        </p:scale>
        <p:origin x="115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311FF-9A55-431C-B5BF-B238F2EE72AA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F49BA-7CE0-427B-8949-2214F36B67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48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84BB9-B857-F44D-A864-1B60BCEC9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D2D483-BE33-E1C0-0F96-531D777A0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A22745-C558-7B0C-C801-E8D72051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64BA46-638C-7282-EF45-93F84F6C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62EF44-44D5-F7E7-A548-CE60BDEF7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36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1C1C2-3FC9-13C3-5277-6E42D9472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EE0302-DD1E-5DD4-744F-C969C72F9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00AC2E-85EB-65B3-5D4B-CF8ECA27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355377-B48D-A817-95FA-CC2BAD16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39E2A4-0979-67F6-F564-BEE60EAD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768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8A834-5801-1F76-0E8D-16809E7B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B9064C-B1C1-4ED3-5439-64A79B943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4FDE9-90F5-A97B-9AB3-FA784FB5EB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6CE62E-F1E3-8FCD-A5CF-6B7A0C7F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386D8F-7AAA-9977-6156-20F3F4D0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922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7CAF6-C24F-4825-B851-B0F761339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500ADE-A0EC-CC51-1327-A4D70AE8B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8E7691-8129-17E8-3C5D-68B82D937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66606B-CEC7-105A-7690-53733E5F70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777376-163F-EF0B-273C-C70F92BAA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786704-BD98-E22E-C527-95AC12AC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97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E29CF-75F3-0921-E8A6-5BA67AAC3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C07381-7D7C-F7DB-955D-0EAD8FB04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350347-9B5A-36D0-3FE3-E7D763948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882CE9-ED07-C082-32ED-175C639F4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457A11-1875-AB59-7F7D-6D79A39F5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3213F2-92B8-EE6B-6CC7-B7080D15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A1FD363-3283-22BA-D532-8430A91F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8FF73D-92B0-7B5E-AF99-24BDBC46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674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EB96C-16BF-0BD4-DCF1-5D1D919B0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2EF323-14B1-3D49-8EB4-32ADEA48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2DB49C-C54C-117B-6AEF-6C63AE68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CEBEE8-E6D4-E27C-9421-A5DF14B7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9F2A0F-F251-B0BE-9A79-227E649F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4EAB9C4-E397-AFE5-5AE6-07A62D64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29C60F-7168-C664-BD07-1A561679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16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4E184-D938-B11E-3A5D-F4AC2A9A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67791F-318B-2328-BFC1-93EF50CBF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BCEACF-1262-0E4E-FFFB-2C66B16DE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D34E36-4655-7462-52AB-C0B0CC0B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DDB4B3-D5FF-E9B8-C562-22084B57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729CDF-7A4B-BD59-6E91-71ACA1D8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134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695EF-D105-27F4-007B-6D76B5E46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AA4FA55-902A-EADF-319A-8F00B5A66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36AC97-899B-AFEE-C8D3-1CE759309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387D39-621C-477F-D6B2-14E08DEA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28D489-1C64-673A-5A37-A18E9B6E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03BCC4-46CB-9242-734A-7AD7D2C2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667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98B20-E403-29BD-DBCC-679F7C26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CC78F0-D718-C106-CA77-4E20FEB88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6C4A7F-4311-4CF2-C23A-DCED38D3A3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859ECE-935D-EBBD-0D45-B917E0CCF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E8C297-7DB2-B657-8CFA-E519353B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56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E42797-E69D-3626-A650-22B2EBD2ED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430D6F-289E-D660-6B4E-E7F7820D5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776E36-DEF8-2C6C-AF60-5D3C5916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1226F2A-C650-409F-B679-42B739BC76FC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DEE392-35B3-AFE2-4AFC-04F9CC63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4EA954-B0C5-C9CB-46AC-05859D39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63653-C771-4EED-8355-35FD8566FB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782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Agrupar 191">
            <a:extLst>
              <a:ext uri="{FF2B5EF4-FFF2-40B4-BE49-F238E27FC236}">
                <a16:creationId xmlns:a16="http://schemas.microsoft.com/office/drawing/2014/main" id="{B8E816A9-DAB0-4BBB-68D7-F057068417D0}"/>
              </a:ext>
            </a:extLst>
          </p:cNvPr>
          <p:cNvGrpSpPr/>
          <p:nvPr userDrawn="1"/>
        </p:nvGrpSpPr>
        <p:grpSpPr>
          <a:xfrm>
            <a:off x="11103011" y="1086756"/>
            <a:ext cx="1302838" cy="1261555"/>
            <a:chOff x="-383198" y="2694915"/>
            <a:chExt cx="3307372" cy="3311313"/>
          </a:xfrm>
        </p:grpSpPr>
        <p:cxnSp>
          <p:nvCxnSpPr>
            <p:cNvPr id="193" name="Conector reto 192">
              <a:extLst>
                <a:ext uri="{FF2B5EF4-FFF2-40B4-BE49-F238E27FC236}">
                  <a16:creationId xmlns:a16="http://schemas.microsoft.com/office/drawing/2014/main" id="{7B35B87D-E50B-94F2-76D5-9DA936E8FFA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63038" y="4346575"/>
              <a:ext cx="1661136" cy="1659653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ector reto 193">
              <a:extLst>
                <a:ext uri="{FF2B5EF4-FFF2-40B4-BE49-F238E27FC236}">
                  <a16:creationId xmlns:a16="http://schemas.microsoft.com/office/drawing/2014/main" id="{070FFFE9-78A0-E7B4-2B6F-FEE31A5F231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4700" y="5511800"/>
              <a:ext cx="488338" cy="494428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ector reto 194">
              <a:extLst>
                <a:ext uri="{FF2B5EF4-FFF2-40B4-BE49-F238E27FC236}">
                  <a16:creationId xmlns:a16="http://schemas.microsoft.com/office/drawing/2014/main" id="{8427DCAF-D527-57A0-E9BF-E3B15B9D58E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74700" y="5012703"/>
              <a:ext cx="503238" cy="499097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ector reto 195">
              <a:extLst>
                <a:ext uri="{FF2B5EF4-FFF2-40B4-BE49-F238E27FC236}">
                  <a16:creationId xmlns:a16="http://schemas.microsoft.com/office/drawing/2014/main" id="{B83E954C-DF05-21B3-D79B-EFE79230C54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98488" y="3178175"/>
              <a:ext cx="1155700" cy="1154113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ector reto 196">
              <a:extLst>
                <a:ext uri="{FF2B5EF4-FFF2-40B4-BE49-F238E27FC236}">
                  <a16:creationId xmlns:a16="http://schemas.microsoft.com/office/drawing/2014/main" id="{C1DA4CDF-C91F-8824-868A-B336BCA3D4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8488" y="4332288"/>
              <a:ext cx="679450" cy="680415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ector reto 197">
              <a:extLst>
                <a:ext uri="{FF2B5EF4-FFF2-40B4-BE49-F238E27FC236}">
                  <a16:creationId xmlns:a16="http://schemas.microsoft.com/office/drawing/2014/main" id="{AA54C3BA-8483-5628-79FF-E9AF560E9FE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754188" y="3178175"/>
              <a:ext cx="1169986" cy="1168400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ector reto 198">
              <a:extLst>
                <a:ext uri="{FF2B5EF4-FFF2-40B4-BE49-F238E27FC236}">
                  <a16:creationId xmlns:a16="http://schemas.microsoft.com/office/drawing/2014/main" id="{84CDDFD2-61B5-519A-94D5-63E7BCD09F1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83198" y="2694915"/>
              <a:ext cx="1661136" cy="1659653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ector reto 199">
              <a:extLst>
                <a:ext uri="{FF2B5EF4-FFF2-40B4-BE49-F238E27FC236}">
                  <a16:creationId xmlns:a16="http://schemas.microsoft.com/office/drawing/2014/main" id="{4F23C194-C093-A6DC-3A22-DDDB8C0F84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77938" y="2694915"/>
              <a:ext cx="412301" cy="41417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ector reto 200">
              <a:extLst>
                <a:ext uri="{FF2B5EF4-FFF2-40B4-BE49-F238E27FC236}">
                  <a16:creationId xmlns:a16="http://schemas.microsoft.com/office/drawing/2014/main" id="{23232B50-EBB6-683A-C355-0752D382ADA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5152" y="3109086"/>
              <a:ext cx="1225087" cy="123303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ector reto 201">
              <a:extLst>
                <a:ext uri="{FF2B5EF4-FFF2-40B4-BE49-F238E27FC236}">
                  <a16:creationId xmlns:a16="http://schemas.microsoft.com/office/drawing/2014/main" id="{79AE1541-8609-67C2-7E54-EAC9F0B708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83198" y="4354568"/>
              <a:ext cx="1086461" cy="108262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ector reto 202">
              <a:extLst>
                <a:ext uri="{FF2B5EF4-FFF2-40B4-BE49-F238E27FC236}">
                  <a16:creationId xmlns:a16="http://schemas.microsoft.com/office/drawing/2014/main" id="{F27D6B8B-823A-A17D-321B-52F72FF8AE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152" y="4336739"/>
              <a:ext cx="677848" cy="67151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ector reto 203">
              <a:extLst>
                <a:ext uri="{FF2B5EF4-FFF2-40B4-BE49-F238E27FC236}">
                  <a16:creationId xmlns:a16="http://schemas.microsoft.com/office/drawing/2014/main" id="{17FBFD1A-15CF-B5A9-26CA-7B67417680A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03263" y="5008251"/>
              <a:ext cx="439737" cy="42893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6F1E8B65-837B-F56A-5580-3636ED9AD480}"/>
              </a:ext>
            </a:extLst>
          </p:cNvPr>
          <p:cNvGrpSpPr/>
          <p:nvPr userDrawn="1"/>
        </p:nvGrpSpPr>
        <p:grpSpPr>
          <a:xfrm>
            <a:off x="-2308401" y="574469"/>
            <a:ext cx="4204710" cy="4027028"/>
            <a:chOff x="-383198" y="2694915"/>
            <a:chExt cx="3307372" cy="3311313"/>
          </a:xfrm>
        </p:grpSpPr>
        <p:cxnSp>
          <p:nvCxnSpPr>
            <p:cNvPr id="206" name="Conector reto 205">
              <a:extLst>
                <a:ext uri="{FF2B5EF4-FFF2-40B4-BE49-F238E27FC236}">
                  <a16:creationId xmlns:a16="http://schemas.microsoft.com/office/drawing/2014/main" id="{E2839529-7753-6E5D-C9FD-6FB71B0FCA8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63038" y="4346575"/>
              <a:ext cx="1661136" cy="1659653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ector reto 206">
              <a:extLst>
                <a:ext uri="{FF2B5EF4-FFF2-40B4-BE49-F238E27FC236}">
                  <a16:creationId xmlns:a16="http://schemas.microsoft.com/office/drawing/2014/main" id="{92FA88C2-7487-5C68-D212-569D30F1FF5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4700" y="5511800"/>
              <a:ext cx="488338" cy="494428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ector reto 207">
              <a:extLst>
                <a:ext uri="{FF2B5EF4-FFF2-40B4-BE49-F238E27FC236}">
                  <a16:creationId xmlns:a16="http://schemas.microsoft.com/office/drawing/2014/main" id="{B8DADAA2-22F9-8380-6810-B492EB1E85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74700" y="5012703"/>
              <a:ext cx="503238" cy="499097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ector reto 208">
              <a:extLst>
                <a:ext uri="{FF2B5EF4-FFF2-40B4-BE49-F238E27FC236}">
                  <a16:creationId xmlns:a16="http://schemas.microsoft.com/office/drawing/2014/main" id="{55E89AB6-BF60-C2B7-AE3F-FD5BB6AE42D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98488" y="3178175"/>
              <a:ext cx="1155700" cy="1154113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ector reto 209">
              <a:extLst>
                <a:ext uri="{FF2B5EF4-FFF2-40B4-BE49-F238E27FC236}">
                  <a16:creationId xmlns:a16="http://schemas.microsoft.com/office/drawing/2014/main" id="{1C278EB8-3C48-7355-8010-046A0F9FDB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8488" y="4332288"/>
              <a:ext cx="679450" cy="680415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ector reto 210">
              <a:extLst>
                <a:ext uri="{FF2B5EF4-FFF2-40B4-BE49-F238E27FC236}">
                  <a16:creationId xmlns:a16="http://schemas.microsoft.com/office/drawing/2014/main" id="{1F78BB09-00DF-2B64-A733-0C4023BDA6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754188" y="3178175"/>
              <a:ext cx="1169986" cy="1168400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ector reto 211">
              <a:extLst>
                <a:ext uri="{FF2B5EF4-FFF2-40B4-BE49-F238E27FC236}">
                  <a16:creationId xmlns:a16="http://schemas.microsoft.com/office/drawing/2014/main" id="{1F2B9E6F-B5BC-A013-83FF-A5389B8BAD0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83198" y="2694915"/>
              <a:ext cx="1661136" cy="1659653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ector reto 212">
              <a:extLst>
                <a:ext uri="{FF2B5EF4-FFF2-40B4-BE49-F238E27FC236}">
                  <a16:creationId xmlns:a16="http://schemas.microsoft.com/office/drawing/2014/main" id="{8BB4DEBD-27C6-F6E8-248E-874EE4CBE7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77938" y="2694915"/>
              <a:ext cx="412301" cy="41417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ector reto 213">
              <a:extLst>
                <a:ext uri="{FF2B5EF4-FFF2-40B4-BE49-F238E27FC236}">
                  <a16:creationId xmlns:a16="http://schemas.microsoft.com/office/drawing/2014/main" id="{EDE86AD7-B089-DC76-8E54-515339CD86D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5152" y="3109086"/>
              <a:ext cx="1225087" cy="123303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 reto 214">
              <a:extLst>
                <a:ext uri="{FF2B5EF4-FFF2-40B4-BE49-F238E27FC236}">
                  <a16:creationId xmlns:a16="http://schemas.microsoft.com/office/drawing/2014/main" id="{82FB1986-BB1A-3833-F875-5DE0AB39B3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83198" y="4354568"/>
              <a:ext cx="1086461" cy="108262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ector reto 215">
              <a:extLst>
                <a:ext uri="{FF2B5EF4-FFF2-40B4-BE49-F238E27FC236}">
                  <a16:creationId xmlns:a16="http://schemas.microsoft.com/office/drawing/2014/main" id="{C9355F9F-2BA8-5B71-33E4-966D6F35A1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152" y="4336739"/>
              <a:ext cx="677848" cy="67151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ector reto 216">
              <a:extLst>
                <a:ext uri="{FF2B5EF4-FFF2-40B4-BE49-F238E27FC236}">
                  <a16:creationId xmlns:a16="http://schemas.microsoft.com/office/drawing/2014/main" id="{2398ABE1-D07D-739B-15BF-5E4EA141E6E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03263" y="5008251"/>
              <a:ext cx="439737" cy="42893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02CF6566-C362-2341-6043-4964D529BBCE}"/>
              </a:ext>
            </a:extLst>
          </p:cNvPr>
          <p:cNvGrpSpPr/>
          <p:nvPr userDrawn="1"/>
        </p:nvGrpSpPr>
        <p:grpSpPr>
          <a:xfrm>
            <a:off x="-277964" y="4584654"/>
            <a:ext cx="1302838" cy="1261555"/>
            <a:chOff x="-383198" y="2694915"/>
            <a:chExt cx="3307372" cy="3311313"/>
          </a:xfrm>
        </p:grpSpPr>
        <p:cxnSp>
          <p:nvCxnSpPr>
            <p:cNvPr id="219" name="Conector reto 218">
              <a:extLst>
                <a:ext uri="{FF2B5EF4-FFF2-40B4-BE49-F238E27FC236}">
                  <a16:creationId xmlns:a16="http://schemas.microsoft.com/office/drawing/2014/main" id="{9672C408-114B-2155-C13C-9EDD43D741C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63038" y="4346575"/>
              <a:ext cx="1661136" cy="1659653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ector reto 219">
              <a:extLst>
                <a:ext uri="{FF2B5EF4-FFF2-40B4-BE49-F238E27FC236}">
                  <a16:creationId xmlns:a16="http://schemas.microsoft.com/office/drawing/2014/main" id="{2502C56E-F186-2833-317A-B789B400E5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4700" y="5511800"/>
              <a:ext cx="488338" cy="494428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 reto 220">
              <a:extLst>
                <a:ext uri="{FF2B5EF4-FFF2-40B4-BE49-F238E27FC236}">
                  <a16:creationId xmlns:a16="http://schemas.microsoft.com/office/drawing/2014/main" id="{3604BB9C-EB2A-EFC6-8B40-7A6C0E5D60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74700" y="5012703"/>
              <a:ext cx="503238" cy="499097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 reto 221">
              <a:extLst>
                <a:ext uri="{FF2B5EF4-FFF2-40B4-BE49-F238E27FC236}">
                  <a16:creationId xmlns:a16="http://schemas.microsoft.com/office/drawing/2014/main" id="{00F67645-A359-AC5D-CE63-385D6596F95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98488" y="3178175"/>
              <a:ext cx="1155700" cy="1154113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to 222">
              <a:extLst>
                <a:ext uri="{FF2B5EF4-FFF2-40B4-BE49-F238E27FC236}">
                  <a16:creationId xmlns:a16="http://schemas.microsoft.com/office/drawing/2014/main" id="{BBAD308B-A202-0344-3C7F-AE9369FBB0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8488" y="4332288"/>
              <a:ext cx="679450" cy="680415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to 223">
              <a:extLst>
                <a:ext uri="{FF2B5EF4-FFF2-40B4-BE49-F238E27FC236}">
                  <a16:creationId xmlns:a16="http://schemas.microsoft.com/office/drawing/2014/main" id="{7904CAA8-26DD-560D-BA46-D914F16CBC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754188" y="3178175"/>
              <a:ext cx="1169986" cy="1168400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 reto 224">
              <a:extLst>
                <a:ext uri="{FF2B5EF4-FFF2-40B4-BE49-F238E27FC236}">
                  <a16:creationId xmlns:a16="http://schemas.microsoft.com/office/drawing/2014/main" id="{1C926B9A-9040-F453-CFEF-D5297FBA551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83198" y="2694915"/>
              <a:ext cx="1661136" cy="1659653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 reto 225">
              <a:extLst>
                <a:ext uri="{FF2B5EF4-FFF2-40B4-BE49-F238E27FC236}">
                  <a16:creationId xmlns:a16="http://schemas.microsoft.com/office/drawing/2014/main" id="{37099218-9E05-ED7D-92E3-D153603200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77938" y="2694915"/>
              <a:ext cx="412301" cy="41417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ector reto 226">
              <a:extLst>
                <a:ext uri="{FF2B5EF4-FFF2-40B4-BE49-F238E27FC236}">
                  <a16:creationId xmlns:a16="http://schemas.microsoft.com/office/drawing/2014/main" id="{2C2ADEE1-F677-6266-6F00-8F09D8D5DFC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5152" y="3109086"/>
              <a:ext cx="1225087" cy="123303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ector reto 227">
              <a:extLst>
                <a:ext uri="{FF2B5EF4-FFF2-40B4-BE49-F238E27FC236}">
                  <a16:creationId xmlns:a16="http://schemas.microsoft.com/office/drawing/2014/main" id="{CD65FDDF-F412-7743-E174-24F2343940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83198" y="4354568"/>
              <a:ext cx="1086461" cy="108262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ector reto 228">
              <a:extLst>
                <a:ext uri="{FF2B5EF4-FFF2-40B4-BE49-F238E27FC236}">
                  <a16:creationId xmlns:a16="http://schemas.microsoft.com/office/drawing/2014/main" id="{4F49B1E8-472F-E6B9-6F0D-8681343773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152" y="4336739"/>
              <a:ext cx="677848" cy="67151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ector reto 229">
              <a:extLst>
                <a:ext uri="{FF2B5EF4-FFF2-40B4-BE49-F238E27FC236}">
                  <a16:creationId xmlns:a16="http://schemas.microsoft.com/office/drawing/2014/main" id="{42FA8674-07ED-3642-D7FD-69F6F76516D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03263" y="5008251"/>
              <a:ext cx="439737" cy="42893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2AC0A435-FE49-DE0C-D529-93E1F66E3DE5}"/>
              </a:ext>
            </a:extLst>
          </p:cNvPr>
          <p:cNvGrpSpPr/>
          <p:nvPr userDrawn="1"/>
        </p:nvGrpSpPr>
        <p:grpSpPr>
          <a:xfrm>
            <a:off x="9327833" y="2571140"/>
            <a:ext cx="4204710" cy="4027028"/>
            <a:chOff x="-383198" y="2694915"/>
            <a:chExt cx="3307372" cy="3311313"/>
          </a:xfrm>
        </p:grpSpPr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8BFA8F67-3022-4CFC-2960-E17E01BDF9F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263038" y="4346575"/>
              <a:ext cx="1661136" cy="1659653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>
              <a:extLst>
                <a:ext uri="{FF2B5EF4-FFF2-40B4-BE49-F238E27FC236}">
                  <a16:creationId xmlns:a16="http://schemas.microsoft.com/office/drawing/2014/main" id="{9EA917D2-2819-E63E-C5DD-BCE947CF32F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4700" y="5511800"/>
              <a:ext cx="488338" cy="494428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>
              <a:extLst>
                <a:ext uri="{FF2B5EF4-FFF2-40B4-BE49-F238E27FC236}">
                  <a16:creationId xmlns:a16="http://schemas.microsoft.com/office/drawing/2014/main" id="{30809ACA-2C36-E91B-8482-0512BD0CA71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74700" y="5012703"/>
              <a:ext cx="503238" cy="499097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to 57">
              <a:extLst>
                <a:ext uri="{FF2B5EF4-FFF2-40B4-BE49-F238E27FC236}">
                  <a16:creationId xmlns:a16="http://schemas.microsoft.com/office/drawing/2014/main" id="{060470C1-9DAC-B729-6438-9F326F378D0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98488" y="3178175"/>
              <a:ext cx="1155700" cy="1154113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58">
              <a:extLst>
                <a:ext uri="{FF2B5EF4-FFF2-40B4-BE49-F238E27FC236}">
                  <a16:creationId xmlns:a16="http://schemas.microsoft.com/office/drawing/2014/main" id="{DC215E7B-8B27-95EC-4E1E-79B2538360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8488" y="4332288"/>
              <a:ext cx="679450" cy="680415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>
              <a:extLst>
                <a:ext uri="{FF2B5EF4-FFF2-40B4-BE49-F238E27FC236}">
                  <a16:creationId xmlns:a16="http://schemas.microsoft.com/office/drawing/2014/main" id="{87BD2914-E3A5-97FE-A3C8-A70F65F49B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754188" y="3178175"/>
              <a:ext cx="1169986" cy="1168400"/>
            </a:xfrm>
            <a:prstGeom prst="line">
              <a:avLst/>
            </a:prstGeom>
            <a:ln>
              <a:solidFill>
                <a:srgbClr val="00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to 60">
              <a:extLst>
                <a:ext uri="{FF2B5EF4-FFF2-40B4-BE49-F238E27FC236}">
                  <a16:creationId xmlns:a16="http://schemas.microsoft.com/office/drawing/2014/main" id="{5F8BE3E9-49AC-79A8-353D-097E7855139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83198" y="2694915"/>
              <a:ext cx="1661136" cy="1659653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to 61">
              <a:extLst>
                <a:ext uri="{FF2B5EF4-FFF2-40B4-BE49-F238E27FC236}">
                  <a16:creationId xmlns:a16="http://schemas.microsoft.com/office/drawing/2014/main" id="{A0FDBE87-A693-47F9-C584-24752F0DCDB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77938" y="2694915"/>
              <a:ext cx="412301" cy="41417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to 62">
              <a:extLst>
                <a:ext uri="{FF2B5EF4-FFF2-40B4-BE49-F238E27FC236}">
                  <a16:creationId xmlns:a16="http://schemas.microsoft.com/office/drawing/2014/main" id="{DB14FF73-DCF9-81F1-36AE-A2C8F9AC1AA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65152" y="3109086"/>
              <a:ext cx="1225087" cy="123303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to 63">
              <a:extLst>
                <a:ext uri="{FF2B5EF4-FFF2-40B4-BE49-F238E27FC236}">
                  <a16:creationId xmlns:a16="http://schemas.microsoft.com/office/drawing/2014/main" id="{4A5AFF7A-C171-8C60-A7EF-1F573D37DA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83198" y="4354568"/>
              <a:ext cx="1086461" cy="108262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to 64">
              <a:extLst>
                <a:ext uri="{FF2B5EF4-FFF2-40B4-BE49-F238E27FC236}">
                  <a16:creationId xmlns:a16="http://schemas.microsoft.com/office/drawing/2014/main" id="{95EF4182-8CCD-1CF5-0F19-EB37337D97C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152" y="4336739"/>
              <a:ext cx="677848" cy="67151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to 65">
              <a:extLst>
                <a:ext uri="{FF2B5EF4-FFF2-40B4-BE49-F238E27FC236}">
                  <a16:creationId xmlns:a16="http://schemas.microsoft.com/office/drawing/2014/main" id="{6467AFD8-1F02-664E-B511-7653F744BE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03263" y="5008251"/>
              <a:ext cx="439737" cy="42893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4355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6408EC8-F328-C6FE-9F0C-F91A373E7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8BD9702-A1AE-659A-E44F-747526A01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81" y="263191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F880D82-1E84-5952-47D4-C1F7CAC3C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221" y="263191"/>
            <a:ext cx="2333625" cy="762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7238A6B-3F98-8B5D-F0CE-0B79702055FC}"/>
              </a:ext>
            </a:extLst>
          </p:cNvPr>
          <p:cNvSpPr/>
          <p:nvPr/>
        </p:nvSpPr>
        <p:spPr>
          <a:xfrm>
            <a:off x="2286798" y="1988970"/>
            <a:ext cx="8245365" cy="1145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Curso Desenvolvedor Front-</a:t>
            </a:r>
            <a:r>
              <a:rPr lang="pt-BR" sz="3600" dirty="0" err="1">
                <a:solidFill>
                  <a:schemeClr val="tx1"/>
                </a:solidFill>
                <a:latin typeface="Arial Black" panose="020B0A04020102020204" pitchFamily="34" charset="0"/>
              </a:rPr>
              <a:t>End</a:t>
            </a:r>
            <a:endParaRPr lang="pt-BR" sz="3600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Javascript</a:t>
            </a:r>
            <a:endParaRPr lang="pt-BR" sz="3600" dirty="0">
              <a:solidFill>
                <a:srgbClr val="006600"/>
              </a:solidFill>
              <a:latin typeface="Trade Gothic Next Rounded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830823-2C64-1AD4-B0AF-882FFF8634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81" y="2561625"/>
            <a:ext cx="3840435" cy="384043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9F329FE-0C54-5A55-3355-319162AD6487}"/>
              </a:ext>
            </a:extLst>
          </p:cNvPr>
          <p:cNvSpPr/>
          <p:nvPr/>
        </p:nvSpPr>
        <p:spPr>
          <a:xfrm>
            <a:off x="4456221" y="3751978"/>
            <a:ext cx="4672013" cy="1145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dirty="0">
                <a:solidFill>
                  <a:schemeClr val="tx1"/>
                </a:solidFill>
                <a:latin typeface="Trade Gothic Next Rounded" panose="020B0604020202020204" pitchFamily="34" charset="0"/>
              </a:rPr>
              <a:t>Aula 02</a:t>
            </a:r>
          </a:p>
        </p:txBody>
      </p:sp>
    </p:spTree>
    <p:extLst>
      <p:ext uri="{BB962C8B-B14F-4D97-AF65-F5344CB8AC3E}">
        <p14:creationId xmlns:p14="http://schemas.microsoft.com/office/powerpoint/2010/main" val="13512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EC49B-47F4-AA3D-BDBA-ED355A92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F9DB060-A214-DAD9-27E3-71F850F32829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 Igualdade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972E68-F757-2EE7-3C3D-6180A0869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5F8F667-8516-ED8E-3666-E2F7CB6FB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502835A-2667-D6A7-F8C2-A72AEAD414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70AD139-70D1-BB7B-A508-B6E2AF006A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132421-2402-2461-64DF-65DE973DE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/>
              <a:t>O operador == em </a:t>
            </a:r>
            <a:r>
              <a:rPr lang="pt-BR" dirty="0" err="1"/>
              <a:t>JavaScript</a:t>
            </a:r>
            <a:r>
              <a:rPr lang="pt-BR" dirty="0"/>
              <a:t> é o operador de </a:t>
            </a:r>
            <a:r>
              <a:rPr lang="pt-BR" b="1" dirty="0"/>
              <a:t>igualdade ampla</a:t>
            </a:r>
            <a:r>
              <a:rPr lang="pt-BR" dirty="0"/>
              <a:t> (ou abstrata). </a:t>
            </a:r>
          </a:p>
          <a:p>
            <a:pPr marL="0" indent="0">
              <a:buNone/>
            </a:pPr>
            <a:r>
              <a:rPr lang="pt-BR" dirty="0"/>
              <a:t>Ele compara se dois valores são iguais, mas realiza conversão automática de tipo (coerção) antes da comparação. </a:t>
            </a:r>
          </a:p>
          <a:p>
            <a:pPr marL="0" indent="0">
              <a:buNone/>
            </a:pPr>
            <a:r>
              <a:rPr lang="pt-BR" dirty="0"/>
              <a:t>Isso significa que 5 == "5" resulta em true, pois o </a:t>
            </a:r>
            <a:r>
              <a:rPr lang="pt-BR" dirty="0" err="1"/>
              <a:t>string</a:t>
            </a:r>
            <a:r>
              <a:rPr lang="pt-BR" dirty="0"/>
              <a:t> "5" é convertido para número</a:t>
            </a:r>
            <a:endParaRPr lang="pt-BR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95E4D2-C39A-21DA-112F-0C6ED54ED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68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60BD4-0B28-A421-5371-95FF6577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0ED1876-0CC5-B26E-EDD1-CD913BE3DA5F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 Desigualdade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6D0EB0-8334-8A0C-8B79-430708B76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EE12FFA-7798-513E-8BE7-287B9DBE9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D3250E7-D2B2-7CF2-6E7D-DF5085FDC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DAD8C71-1EF8-EC3C-B35C-6842259452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6BAB3E-C6B7-DDE1-12E3-84AAF78C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/>
              <a:t>O operador != em </a:t>
            </a:r>
            <a:r>
              <a:rPr lang="pt-BR" dirty="0" err="1"/>
              <a:t>JavaScript</a:t>
            </a:r>
            <a:r>
              <a:rPr lang="pt-BR" dirty="0"/>
              <a:t> é o operador de </a:t>
            </a:r>
            <a:r>
              <a:rPr lang="pt-BR" b="1" dirty="0"/>
              <a:t>desigualdade</a:t>
            </a:r>
            <a:r>
              <a:rPr lang="pt-BR" dirty="0"/>
              <a:t> (ou diferente de). </a:t>
            </a:r>
          </a:p>
          <a:p>
            <a:pPr marL="0" indent="0">
              <a:buNone/>
            </a:pPr>
            <a:r>
              <a:rPr lang="pt-BR" dirty="0"/>
              <a:t>Ele verifica se dois valores são diferentes, retornando true se forem diferentes e false se forem iguais. </a:t>
            </a:r>
          </a:p>
          <a:p>
            <a:pPr marL="0" indent="0">
              <a:buNone/>
            </a:pPr>
            <a:r>
              <a:rPr lang="pt-BR" dirty="0"/>
              <a:t>Este operador realiza conversão de tipo implícita ("coerção"), o que significa que ele pode considerar valores de tipos diferentes como iguais.</a:t>
            </a:r>
            <a:endParaRPr lang="pt-BR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0EA0FD-B7CA-225A-F88C-265B394B9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32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AA45-593B-1303-3709-49F72368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5F5A57F-0C96-6BD4-3313-C449D80FF76F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Operadores Comparação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53872E-1509-23E8-07D1-37F8EEED8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4C78A6E-8507-8CAB-3B98-D899E0C93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EDF44D7-E2FC-9CE3-D5D2-5F75E2B0C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B806019-6AAD-FBF5-AA7B-01D8849CA3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88B08F-ACDE-DAF6-79AD-CE61656FD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/>
              <a:t>Os operadores de comparação testam a ordem relativa (numérica ou alfabética) de seus dois operandos:</a:t>
            </a:r>
          </a:p>
          <a:p>
            <a:pPr marL="0" indent="0">
              <a:buNone/>
            </a:pPr>
            <a:r>
              <a:rPr lang="pt-BR" sz="2600" b="1" i="1" dirty="0"/>
              <a:t>Menor que (</a:t>
            </a:r>
            <a:r>
              <a:rPr lang="pt-BR" sz="2600" b="1" dirty="0"/>
              <a:t>&lt;</a:t>
            </a:r>
            <a:r>
              <a:rPr lang="pt-BR" sz="2600" b="1" i="1" dirty="0"/>
              <a:t>)</a:t>
            </a:r>
          </a:p>
          <a:p>
            <a:pPr marL="0" indent="0">
              <a:buNone/>
            </a:pPr>
            <a:r>
              <a:rPr lang="pt-BR" sz="2600" dirty="0"/>
              <a:t>O operador </a:t>
            </a:r>
            <a:r>
              <a:rPr lang="pt-BR" sz="2600" b="1" dirty="0"/>
              <a:t>&lt;</a:t>
            </a:r>
            <a:r>
              <a:rPr lang="pt-BR" sz="2600" dirty="0"/>
              <a:t> é avaliado como true se o primeiro operando é menor do que o segundo; caso</a:t>
            </a:r>
          </a:p>
          <a:p>
            <a:pPr marL="0" indent="0">
              <a:buNone/>
            </a:pPr>
            <a:r>
              <a:rPr lang="pt-BR" sz="2600" dirty="0"/>
              <a:t>contrário, é avaliado como false.</a:t>
            </a:r>
          </a:p>
          <a:p>
            <a:pPr marL="0" indent="0">
              <a:buNone/>
            </a:pPr>
            <a:r>
              <a:rPr lang="pt-BR" sz="2400" dirty="0" err="1"/>
              <a:t>alert</a:t>
            </a:r>
            <a:r>
              <a:rPr lang="pt-BR" sz="2400" dirty="0"/>
              <a:t>(5 &lt; 10); // Retorna: true</a:t>
            </a:r>
          </a:p>
          <a:p>
            <a:pPr marL="0" indent="0">
              <a:buNone/>
            </a:pPr>
            <a:r>
              <a:rPr lang="pt-BR" sz="2400" dirty="0" err="1"/>
              <a:t>alert</a:t>
            </a:r>
            <a:r>
              <a:rPr lang="pt-BR" sz="2400" dirty="0"/>
              <a:t>(20 &lt; 10); // Retorna: false</a:t>
            </a:r>
          </a:p>
          <a:p>
            <a:pPr marL="0" indent="0">
              <a:buNone/>
            </a:pPr>
            <a:r>
              <a:rPr lang="pt-BR" sz="2400" dirty="0" err="1"/>
              <a:t>alert</a:t>
            </a:r>
            <a:r>
              <a:rPr lang="pt-BR" sz="2400" dirty="0"/>
              <a:t>(10 &lt; 10); // Retorna: false (é igual, não menor)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714E5F-3DF4-414D-4CD7-E95A9390F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700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97CC0-4292-DAFB-A975-C0A9B47E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8A4D97B-2182-44F4-71D8-FADC0D38B80D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Operadores Comparação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BF8B88-D291-1398-FEE6-5A9501ABF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7574ACA-E120-5227-9FA8-A4074F4F4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F37B400-4030-5A03-E34D-BEE79D9D9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45A6DB7-6852-F9D5-4824-BBB2B12B2E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2C7B62-79C6-B37F-B256-208FA669B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b="1" i="1" dirty="0"/>
              <a:t>Maior que (</a:t>
            </a:r>
            <a:r>
              <a:rPr lang="pt-BR" b="1" dirty="0"/>
              <a:t>&gt;</a:t>
            </a:r>
            <a:r>
              <a:rPr lang="pt-BR" b="1" i="1" dirty="0"/>
              <a:t>)</a:t>
            </a:r>
          </a:p>
          <a:p>
            <a:pPr marL="0" indent="0">
              <a:buNone/>
            </a:pPr>
            <a:r>
              <a:rPr lang="pt-BR" sz="2600" dirty="0"/>
              <a:t>O operador </a:t>
            </a:r>
            <a:r>
              <a:rPr lang="pt-BR" sz="2600" b="1" dirty="0"/>
              <a:t>&gt;</a:t>
            </a:r>
            <a:r>
              <a:rPr lang="pt-BR" sz="2600" dirty="0"/>
              <a:t> é avaliado como true se o primeiro operando é maior do que o segundo; caso contrário, é avaliado como false.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alert</a:t>
            </a:r>
            <a:r>
              <a:rPr lang="pt-BR" dirty="0"/>
              <a:t>(10 &gt; 5);  // Resultado: true</a:t>
            </a:r>
          </a:p>
          <a:p>
            <a:pPr marL="0" indent="0">
              <a:buNone/>
            </a:pPr>
            <a:r>
              <a:rPr lang="pt-BR" dirty="0" err="1"/>
              <a:t>alert</a:t>
            </a:r>
            <a:r>
              <a:rPr lang="pt-BR" dirty="0"/>
              <a:t>(3 &gt; 10);  // Resultado: false</a:t>
            </a:r>
          </a:p>
          <a:p>
            <a:pPr marL="0" indent="0">
              <a:buNone/>
            </a:pPr>
            <a:r>
              <a:rPr lang="pt-BR" dirty="0" err="1"/>
              <a:t>alert</a:t>
            </a:r>
            <a:r>
              <a:rPr lang="pt-BR" dirty="0"/>
              <a:t>(10 &gt; 10); // Resultado: false</a:t>
            </a:r>
          </a:p>
          <a:p>
            <a:pPr marL="0" indent="0">
              <a:buNone/>
            </a:pPr>
            <a:endParaRPr lang="pt-BR" sz="2600" dirty="0"/>
          </a:p>
          <a:p>
            <a:pPr marL="0" indent="0">
              <a:buNone/>
            </a:pPr>
            <a:endParaRPr lang="pt-BR" sz="2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2D5EF2-A198-9C05-1E1D-BDD6B166B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17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C47C-0F9E-E086-9F79-CB51D53F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21BC098-7DC9-6015-271C-EB90122EB0D3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Operadores Comparação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FCAD64-7DB2-0857-F305-7303A4F80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4714CB3-E454-5881-7BFD-6BA32005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DA5C182-E24E-BD54-B509-1FFDC62CDF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434E398-8019-5570-2005-783379004E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58E3BB-55AD-DC8D-498C-34075E37E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b="1" i="1" dirty="0"/>
              <a:t>Menor ou igual a (</a:t>
            </a:r>
            <a:r>
              <a:rPr lang="pt-BR" b="1" dirty="0"/>
              <a:t>&lt;=</a:t>
            </a:r>
            <a:r>
              <a:rPr lang="pt-BR" b="1" i="1" dirty="0"/>
              <a:t>)</a:t>
            </a:r>
          </a:p>
          <a:p>
            <a:pPr marL="0" indent="0">
              <a:buNone/>
            </a:pPr>
            <a:r>
              <a:rPr lang="pt-BR" sz="2600" dirty="0"/>
              <a:t>O operador </a:t>
            </a:r>
            <a:r>
              <a:rPr lang="pt-BR" sz="2600" b="1" dirty="0"/>
              <a:t>&lt;=</a:t>
            </a:r>
            <a:r>
              <a:rPr lang="pt-BR" sz="2600" dirty="0"/>
              <a:t> é avaliado como true se o primeiro operando é menor ou igual ao segundo; caso contrário, é avaliado como false.</a:t>
            </a:r>
          </a:p>
          <a:p>
            <a:pPr marL="0" indent="0">
              <a:buNone/>
            </a:pPr>
            <a:endParaRPr lang="pt-BR" sz="2600" dirty="0"/>
          </a:p>
          <a:p>
            <a:pPr marL="0" indent="0">
              <a:buNone/>
            </a:pPr>
            <a:r>
              <a:rPr lang="pt-BR" sz="2600" dirty="0" err="1"/>
              <a:t>alert</a:t>
            </a:r>
            <a:r>
              <a:rPr lang="pt-BR" sz="2600" dirty="0"/>
              <a:t>(5 &lt;= 10); // true (5 é menor que 10)</a:t>
            </a:r>
          </a:p>
          <a:p>
            <a:pPr marL="0" indent="0">
              <a:buNone/>
            </a:pPr>
            <a:r>
              <a:rPr lang="pt-BR" sz="2600" dirty="0" err="1"/>
              <a:t>alert</a:t>
            </a:r>
            <a:r>
              <a:rPr lang="pt-BR" sz="2600" dirty="0"/>
              <a:t>(10 &lt;= 10); // true (10 é igual a 10)</a:t>
            </a:r>
          </a:p>
          <a:p>
            <a:pPr marL="0" indent="0">
              <a:buNone/>
            </a:pPr>
            <a:r>
              <a:rPr lang="pt-BR" sz="2600" dirty="0" err="1"/>
              <a:t>alert</a:t>
            </a:r>
            <a:r>
              <a:rPr lang="pt-BR" sz="2600" dirty="0"/>
              <a:t>(15 &lt;= 10); // false (15 não é menor nem igual a 10)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49D8C2-1A68-9511-C54E-2DB6D4A77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83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39021-70DD-A807-2555-C1979D3F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659A1F8-CE77-1BDA-03A5-89A8FA887FFF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Operadores Comparação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C3DEEB-1671-AB0C-F748-D5BF989FA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A4853CC-8023-19AB-0C45-069F1D069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9090DCA-F45E-43BE-7B9B-39BFBD2608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05FFCDE-EA18-C9F2-62B4-C83674CE32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480570-E230-406C-D5D2-E86DBE131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b="1" i="1" dirty="0"/>
              <a:t>Maior ou igual a (</a:t>
            </a:r>
            <a:r>
              <a:rPr lang="pt-BR" b="1" dirty="0"/>
              <a:t>&gt;=</a:t>
            </a:r>
            <a:r>
              <a:rPr lang="pt-BR" b="1" i="1" dirty="0"/>
              <a:t>)</a:t>
            </a:r>
          </a:p>
          <a:p>
            <a:pPr marL="0" indent="0">
              <a:buNone/>
            </a:pPr>
            <a:r>
              <a:rPr lang="pt-BR" sz="2600" dirty="0"/>
              <a:t>O operador </a:t>
            </a:r>
            <a:r>
              <a:rPr lang="pt-BR" sz="2600" b="1" dirty="0"/>
              <a:t>&gt;= </a:t>
            </a:r>
            <a:r>
              <a:rPr lang="pt-BR" sz="2600" dirty="0"/>
              <a:t>é avaliado como true se o primeiro operando é maior ou igual ao o segundo; caso contrário, é avaliado como false.</a:t>
            </a:r>
          </a:p>
          <a:p>
            <a:pPr marL="0" indent="0">
              <a:buNone/>
            </a:pPr>
            <a:endParaRPr lang="pt-BR" sz="2600" dirty="0"/>
          </a:p>
          <a:p>
            <a:pPr marL="0" indent="0">
              <a:buNone/>
            </a:pPr>
            <a:r>
              <a:rPr lang="pt-BR" sz="2600" dirty="0" err="1"/>
              <a:t>alert</a:t>
            </a:r>
            <a:r>
              <a:rPr lang="pt-BR" sz="2600" dirty="0"/>
              <a:t>(10 &gt;= 5);  // true (10 é maior que 5)</a:t>
            </a:r>
          </a:p>
          <a:p>
            <a:pPr marL="0" indent="0">
              <a:buNone/>
            </a:pPr>
            <a:r>
              <a:rPr lang="pt-BR" sz="2600" dirty="0" err="1"/>
              <a:t>alert</a:t>
            </a:r>
            <a:r>
              <a:rPr lang="pt-BR" sz="2600" dirty="0"/>
              <a:t>(10 &gt;= 10); // true (10 é igual a 10)</a:t>
            </a:r>
          </a:p>
          <a:p>
            <a:pPr marL="0" indent="0">
              <a:buNone/>
            </a:pPr>
            <a:r>
              <a:rPr lang="pt-BR" sz="2600" dirty="0" err="1"/>
              <a:t>alert</a:t>
            </a:r>
            <a:r>
              <a:rPr lang="pt-BR" sz="2600" dirty="0"/>
              <a:t>(5 &gt;= 10);  // false (5 é menor que 10)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97B96E-7BEA-E4E5-0618-17ECF5C2A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786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DB51B-A17E-A8A4-89F7-560C9F27E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9351965-EB67-BCBA-1715-641EBF4759D8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Operadores Lógicos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0EB5554-7535-77D8-9F88-555604296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B2F84E8-BAF7-D76E-2B6F-C3057C5B0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3BF3E17-82D9-A55D-E5FE-2CBD78C31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0FF7AF2-C069-96F8-41EB-E5548BD487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7750F4-6BB9-BF67-31C9-5969BC0A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b="1" dirty="0"/>
              <a:t>&amp;&amp; (E)</a:t>
            </a:r>
          </a:p>
          <a:p>
            <a:pPr marL="0" indent="0">
              <a:buNone/>
            </a:pPr>
            <a:r>
              <a:rPr lang="pt-BR" sz="2600" dirty="0"/>
              <a:t>O operador lógico &amp;&amp; (E) no </a:t>
            </a:r>
            <a:r>
              <a:rPr lang="pt-BR" sz="2600" dirty="0" err="1"/>
              <a:t>JavaScript</a:t>
            </a:r>
            <a:r>
              <a:rPr lang="pt-BR" sz="2600" dirty="0"/>
              <a:t> retorna true apenas se ambos os operandos forem verdadeiros.</a:t>
            </a:r>
          </a:p>
          <a:p>
            <a:pPr marL="0" indent="0">
              <a:buNone/>
            </a:pPr>
            <a:endParaRPr lang="pt-BR" sz="2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3C04AD-DDCB-4222-EDFB-DCEFAEA91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34DE27F-4CD0-44F1-9CD6-A73D862367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552" y="3804087"/>
            <a:ext cx="7016470" cy="247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58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ED897-7A27-9374-A1C3-CBE81685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E3C54AE-16A1-D401-02D5-699B80619256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Tabela Verdade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72B6E9A-8BBF-4FCD-A6E6-CBE8F0365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B31C62C-38A9-EE60-932A-330890D07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C6D336E-BDD9-427B-27A1-B813241E41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A9BC992-33AF-53C5-21DD-48B5887B9D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49C21C-B691-B974-DDAA-EBADA5725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/>
              <a:t>Tabela verdade </a:t>
            </a:r>
            <a:r>
              <a:rPr lang="pt-BR" b="1" dirty="0"/>
              <a:t>AND </a:t>
            </a:r>
            <a:r>
              <a:rPr lang="pt-BR" dirty="0"/>
              <a:t>(E)</a:t>
            </a:r>
          </a:p>
          <a:p>
            <a:pPr marL="0" indent="0">
              <a:buNone/>
            </a:pPr>
            <a:r>
              <a:rPr lang="pt-BR" dirty="0"/>
              <a:t>Independente de quais expressões forem usadas, se os resultados forem: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	V E V = </a:t>
            </a:r>
            <a:r>
              <a:rPr lang="pt-BR" b="1" dirty="0"/>
              <a:t>V</a:t>
            </a:r>
          </a:p>
          <a:p>
            <a:pPr marL="0" indent="0">
              <a:buNone/>
            </a:pPr>
            <a:r>
              <a:rPr lang="pt-BR" dirty="0"/>
              <a:t>	V E F = </a:t>
            </a:r>
            <a:r>
              <a:rPr lang="pt-BR" b="1" dirty="0"/>
              <a:t>F</a:t>
            </a:r>
          </a:p>
          <a:p>
            <a:pPr marL="0" indent="0">
              <a:buNone/>
            </a:pPr>
            <a:r>
              <a:rPr lang="pt-BR" dirty="0"/>
              <a:t>	F E V = </a:t>
            </a:r>
            <a:r>
              <a:rPr lang="pt-BR" b="1" dirty="0"/>
              <a:t>F</a:t>
            </a:r>
          </a:p>
          <a:p>
            <a:pPr marL="0" indent="0">
              <a:buNone/>
            </a:pPr>
            <a:r>
              <a:rPr lang="pt-BR" dirty="0"/>
              <a:t>	F E F = </a:t>
            </a:r>
            <a:r>
              <a:rPr lang="pt-BR" b="1" dirty="0"/>
              <a:t>F</a:t>
            </a:r>
            <a:endParaRPr lang="pt-BR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16AA33-D4C6-53BE-8CA9-209EF91CF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697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E3572-E799-0B64-ECF9-EA17CF6B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CF9E935-3425-5785-1666-632A6DCD56DD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Operadores Lógicos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0484F5F-4423-46BC-A35A-FE2FA7F6F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5041F5C-FC56-DD44-27FA-E4F52CDE3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E7498E2-AE10-4E35-DA3D-CD484C65FA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ACCED3B-0F86-3E8E-B7B1-0FAD6F82F8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43E0DF-5940-51F1-7FCF-012E98F8E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b="1" dirty="0"/>
              <a:t>II (OU)</a:t>
            </a:r>
          </a:p>
          <a:p>
            <a:pPr marL="0" indent="0">
              <a:buNone/>
            </a:pPr>
            <a:r>
              <a:rPr lang="pt-BR" sz="2600" dirty="0"/>
              <a:t>O operador lógico || "OU" em programação. Ele é usado para combinar duas ou mais condições e verificar se pelo menos uma delas é verdadeira.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A3375C-DC86-BCA3-3D22-742D7CB2F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2B66334-2B55-E107-7655-8FFE2AB55B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073" y="3941887"/>
            <a:ext cx="6270585" cy="268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48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31C9-4A36-FDC6-4176-42B9CD5FD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FA25F9A-EA8B-553A-EA07-57C21FF9C547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Tabela Verdade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1960E4-0CDE-C1DB-CF12-9BC16B778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4E72965-3AAC-F92B-5224-8506D5447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923A4F3-FAD9-D1EA-93EC-F88EB2E11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C24B2D6-5DAE-74E8-4B20-5CCF899EA6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628795-91A6-80AA-07B4-E5A3E749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/>
              <a:t>Tabela Verdade </a:t>
            </a:r>
            <a:r>
              <a:rPr lang="pt-BR" b="1" dirty="0"/>
              <a:t>OR </a:t>
            </a:r>
            <a:r>
              <a:rPr lang="pt-BR" dirty="0"/>
              <a:t>(OU)</a:t>
            </a:r>
          </a:p>
          <a:p>
            <a:pPr marL="0" indent="0">
              <a:buNone/>
            </a:pPr>
            <a:r>
              <a:rPr lang="pt-BR" dirty="0"/>
              <a:t>Neste tipo de tabela verdade, mesmo tendo uma proposição Falsa, ela não invalida a Verdadeira. </a:t>
            </a:r>
          </a:p>
          <a:p>
            <a:pPr marL="0" indent="0">
              <a:buNone/>
            </a:pPr>
            <a:r>
              <a:rPr lang="pt-BR" dirty="0" err="1"/>
              <a:t>Ex</a:t>
            </a:r>
            <a:r>
              <a:rPr lang="pt-BR" dirty="0"/>
              <a:t>:</a:t>
            </a:r>
          </a:p>
          <a:p>
            <a:pPr marL="0" indent="0">
              <a:buNone/>
            </a:pPr>
            <a:r>
              <a:rPr lang="pt-BR" dirty="0"/>
              <a:t>V e V = </a:t>
            </a:r>
            <a:r>
              <a:rPr lang="pt-BR" b="1" dirty="0"/>
              <a:t>V</a:t>
            </a:r>
          </a:p>
          <a:p>
            <a:pPr marL="0" indent="0">
              <a:buNone/>
            </a:pPr>
            <a:r>
              <a:rPr lang="pt-BR" dirty="0"/>
              <a:t>V e F = </a:t>
            </a:r>
            <a:r>
              <a:rPr lang="pt-BR" b="1" dirty="0"/>
              <a:t>V</a:t>
            </a:r>
          </a:p>
          <a:p>
            <a:pPr marL="0" indent="0">
              <a:buNone/>
            </a:pPr>
            <a:r>
              <a:rPr lang="pt-BR" dirty="0"/>
              <a:t>F e V = </a:t>
            </a:r>
            <a:r>
              <a:rPr lang="pt-BR" b="1" dirty="0"/>
              <a:t>V</a:t>
            </a:r>
          </a:p>
          <a:p>
            <a:pPr marL="0" indent="0">
              <a:buNone/>
            </a:pPr>
            <a:r>
              <a:rPr lang="pt-BR" dirty="0"/>
              <a:t>F e F = </a:t>
            </a:r>
            <a:r>
              <a:rPr lang="pt-BR" b="1" dirty="0"/>
              <a:t>F</a:t>
            </a:r>
            <a:endParaRPr lang="pt-BR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883B2F-6B3B-BBF1-D0F8-4C9B7ACE2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862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EC49B-47F4-AA3D-BDBA-ED355A92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F9DB060-A214-DAD9-27E3-71F850F32829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Operadores Lógicos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972E68-F757-2EE7-3C3D-6180A0869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5F8F667-8516-ED8E-3666-E2F7CB6FB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502835A-2667-D6A7-F8C2-A72AEAD414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70AD139-70D1-BB7B-A508-B6E2AF006A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132421-2402-2461-64DF-65DE973DE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b="1" dirty="0"/>
              <a:t>! (NOT)</a:t>
            </a:r>
          </a:p>
          <a:p>
            <a:pPr marL="0" indent="0">
              <a:buNone/>
            </a:pPr>
            <a:r>
              <a:rPr lang="pt-BR" sz="2600" dirty="0"/>
              <a:t>O operador ! em </a:t>
            </a:r>
            <a:r>
              <a:rPr lang="pt-BR" sz="2600" dirty="0" err="1"/>
              <a:t>JavaScript</a:t>
            </a:r>
            <a:r>
              <a:rPr lang="pt-BR" sz="2600" dirty="0"/>
              <a:t> é o </a:t>
            </a:r>
            <a:r>
              <a:rPr lang="pt-BR" sz="2600" b="1" dirty="0"/>
              <a:t>operador lógico NOT (negação)</a:t>
            </a:r>
            <a:r>
              <a:rPr lang="pt-BR" sz="2600" dirty="0"/>
              <a:t>. Ele inverte o valor booleano de uma expressão: transforma true em false e false em true.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95E4D2-C39A-21DA-112F-0C6ED54ED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8A354C-0AF8-B209-19F3-F3E5C4290E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772" y="3930381"/>
            <a:ext cx="6253187" cy="270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27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16733-BEC6-CC63-16D7-13945EBAE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925D509-3B30-72F5-B42A-DF6B75B54A63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 in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3ACCED-775C-99E2-726F-8F8DAB75F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5A63ECB-9050-E239-ED23-5FF3DFD87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48EE0EF-F6E6-8205-4FA0-33C9F74EF2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F5EDD61-0D30-C9D7-5546-FD005DFD60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20B450-DC4E-6A10-0DC9-87BFFFFCB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/>
              <a:t>O operador </a:t>
            </a:r>
            <a:r>
              <a:rPr lang="pt-BR" b="1" dirty="0"/>
              <a:t>in</a:t>
            </a:r>
            <a:r>
              <a:rPr lang="pt-BR" dirty="0"/>
              <a:t> espera um operando no lado esquerdo que seja ou possa ser convertido em uma </a:t>
            </a:r>
            <a:r>
              <a:rPr lang="pt-BR" dirty="0" err="1"/>
              <a:t>string</a:t>
            </a:r>
            <a:r>
              <a:rPr lang="pt-BR" dirty="0"/>
              <a:t>. </a:t>
            </a:r>
          </a:p>
          <a:p>
            <a:pPr marL="0" indent="0">
              <a:buNone/>
            </a:pPr>
            <a:r>
              <a:rPr lang="pt-BR" dirty="0"/>
              <a:t>No lado direito, ele espera um operando que seja um objeto. </a:t>
            </a:r>
          </a:p>
          <a:p>
            <a:pPr marL="0" indent="0">
              <a:buNone/>
            </a:pPr>
            <a:r>
              <a:rPr lang="pt-BR" dirty="0"/>
              <a:t>Ele é avaliado como true se o valor do lado esquerdo é o nome de uma propriedade do objeto do lado direito.</a:t>
            </a:r>
            <a:endParaRPr lang="pt-BR" sz="2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AF4DF5-0743-9218-337A-D4F1B2ED4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151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310C0-1A65-367B-56A4-E8BBCAC77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5727E3A-0789-379B-707C-7F217BC7B7F7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 in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D3DD3D1-0D48-45D0-B5EB-BB500D419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10F1906-31AD-93C0-C35D-5EA497BA8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AF03972-0C0F-B926-27BF-A7335D3D4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AE4E628-ABC4-EA99-D065-34FF43F10F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14A17-0720-6785-151F-95A524E50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/>
              <a:t>O operador </a:t>
            </a:r>
            <a:r>
              <a:rPr lang="pt-BR" b="1" dirty="0"/>
              <a:t>in</a:t>
            </a:r>
            <a:r>
              <a:rPr lang="pt-BR" dirty="0"/>
              <a:t> espera um operando no lado esquerdo que seja ou possa ser convertido em uma </a:t>
            </a:r>
            <a:r>
              <a:rPr lang="pt-BR" dirty="0" err="1"/>
              <a:t>string</a:t>
            </a:r>
            <a:r>
              <a:rPr lang="pt-BR" dirty="0"/>
              <a:t>. </a:t>
            </a:r>
          </a:p>
          <a:p>
            <a:pPr marL="0" indent="0">
              <a:buNone/>
            </a:pPr>
            <a:r>
              <a:rPr lang="pt-BR" dirty="0"/>
              <a:t>No lado direito, ele espera um operando que seja um objeto. </a:t>
            </a:r>
          </a:p>
          <a:p>
            <a:pPr marL="0" indent="0">
              <a:buNone/>
            </a:pPr>
            <a:r>
              <a:rPr lang="pt-BR" dirty="0"/>
              <a:t>Ele é avaliado como true se o valor do lado esquerdo é o nome de uma propriedade do objeto do lado direito.</a:t>
            </a:r>
            <a:endParaRPr lang="pt-BR" sz="2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BFAD08-EC7C-F6BC-1303-6F8A42F71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718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765C-7C7B-5C6B-23FB-92EB9F4CE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4D7B835-3E74-7202-8D8A-BA124E981648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 in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579C2DB-B0D1-DC55-D032-842BE8474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9980F90-BD50-A064-AD96-CB8660AED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3321BB6-27E0-9CF2-AEC6-5CCB2805B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92B9BCB-975D-6A50-610B-19B10A0573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4BC50E71-61FC-934E-CD61-EBEA54D87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10" y="3429000"/>
            <a:ext cx="10058409" cy="171972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B2CA989-90EA-F065-0233-988E22325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534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CD46-39DC-0F9E-227A-161391E79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3C9F858-DB55-946C-0641-6801C481A0F9}"/>
              </a:ext>
            </a:extLst>
          </p:cNvPr>
          <p:cNvSpPr/>
          <p:nvPr/>
        </p:nvSpPr>
        <p:spPr>
          <a:xfrm>
            <a:off x="2817379" y="988362"/>
            <a:ext cx="6557241" cy="108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chemeClr val="tx1"/>
                </a:solidFill>
                <a:latin typeface="Arial Black" panose="020B0A04020102020204" pitchFamily="34" charset="0"/>
              </a:rPr>
              <a:t>Operador incremento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33EB07-6744-5791-1ED7-6EB08E60A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-98020"/>
            <a:ext cx="2035192" cy="203519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C63701A-263E-A2CC-F6AD-0245599BD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284" y="-98020"/>
            <a:ext cx="2773935" cy="14403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03D1F6B-A2D2-FF77-F98C-F307A28FBE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972" y="333123"/>
            <a:ext cx="872039" cy="6221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E489F19-2B41-B627-C35F-D82876368A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366" y="226362"/>
            <a:ext cx="2333625" cy="76200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8E3E72-020E-8FA8-D803-D6E9BFF7A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924" y="2256369"/>
            <a:ext cx="7898524" cy="5328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600" dirty="0"/>
              <a:t>O operador de incremento (</a:t>
            </a:r>
            <a:r>
              <a:rPr lang="pt-BR" sz="2600" b="1" dirty="0"/>
              <a:t>++</a:t>
            </a:r>
            <a:r>
              <a:rPr lang="pt-BR" sz="2600" dirty="0"/>
              <a:t>) em </a:t>
            </a:r>
            <a:r>
              <a:rPr lang="pt-BR" sz="2600" dirty="0" err="1"/>
              <a:t>JavaScript</a:t>
            </a:r>
            <a:r>
              <a:rPr lang="pt-BR" sz="2600" dirty="0"/>
              <a:t>  aumenta em 1 o valor de uma variável numérica, sendo amplamente utilizado em contadores e loops. </a:t>
            </a:r>
          </a:p>
          <a:p>
            <a:pPr marL="0" indent="0">
              <a:buNone/>
            </a:pPr>
            <a:r>
              <a:rPr lang="pt-BR" sz="2600" dirty="0"/>
              <a:t>Ele pode ser prefixado (++x, incrementa antes de usar) ou </a:t>
            </a:r>
            <a:r>
              <a:rPr lang="pt-BR" sz="2600" dirty="0" err="1"/>
              <a:t>posfixado</a:t>
            </a:r>
            <a:r>
              <a:rPr lang="pt-BR" sz="2600" dirty="0"/>
              <a:t> (x++, incrementa após usar). </a:t>
            </a:r>
          </a:p>
          <a:p>
            <a:pPr marL="0" indent="0">
              <a:buNone/>
            </a:pPr>
            <a:endParaRPr lang="pt-BR" sz="2600" dirty="0"/>
          </a:p>
          <a:p>
            <a:pPr marL="0" indent="0">
              <a:buNone/>
            </a:pPr>
            <a:r>
              <a:rPr lang="pt-BR" sz="2600" dirty="0"/>
              <a:t>var a = 5;</a:t>
            </a:r>
            <a:br>
              <a:rPr lang="pt-BR" sz="2600" dirty="0"/>
            </a:br>
            <a:r>
              <a:rPr lang="pt-BR" sz="2600" dirty="0"/>
              <a:t>var b = ++a; // a é 6, b é 6 (incremento prefixado)</a:t>
            </a:r>
          </a:p>
          <a:p>
            <a:pPr marL="0" indent="0">
              <a:buNone/>
            </a:pPr>
            <a:r>
              <a:rPr lang="pt-BR" sz="2600" dirty="0"/>
              <a:t>var x = 5;</a:t>
            </a:r>
            <a:br>
              <a:rPr lang="pt-BR" sz="2600" dirty="0"/>
            </a:br>
            <a:r>
              <a:rPr lang="pt-BR" sz="2600" dirty="0"/>
              <a:t>var y = x++; // x é 6, y é 5 (incremento </a:t>
            </a:r>
            <a:r>
              <a:rPr lang="pt-BR" sz="2600" dirty="0" err="1"/>
              <a:t>posfixado</a:t>
            </a:r>
            <a:r>
              <a:rPr lang="pt-BR" sz="2600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4F920E-2DA7-43A6-82B2-27B461ABE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28292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0445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17466</TotalTime>
  <Words>833</Words>
  <Application>Microsoft Office PowerPoint</Application>
  <PresentationFormat>Widescreen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Arial</vt:lpstr>
      <vt:lpstr>Arial Black</vt:lpstr>
      <vt:lpstr>Trade Gothic Next Rounded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de Souza</dc:creator>
  <cp:lastModifiedBy>Marcio Momberger</cp:lastModifiedBy>
  <cp:revision>121</cp:revision>
  <cp:lastPrinted>2024-06-19T18:15:12Z</cp:lastPrinted>
  <dcterms:created xsi:type="dcterms:W3CDTF">2022-07-16T00:19:50Z</dcterms:created>
  <dcterms:modified xsi:type="dcterms:W3CDTF">2026-03-18T18:35:14Z</dcterms:modified>
</cp:coreProperties>
</file>